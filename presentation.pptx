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60" r:id="rId4"/>
    <p:sldId id="262" r:id="rId5"/>
    <p:sldId id="263" r:id="rId6"/>
    <p:sldId id="265" r:id="rId7"/>
    <p:sldId id="266" r:id="rId8"/>
    <p:sldId id="268" r:id="rId9"/>
    <p:sldId id="269" r:id="rId10"/>
    <p:sldId id="271" r:id="rId11"/>
    <p:sldId id="272" r:id="rId12"/>
    <p:sldId id="274" r:id="rId13"/>
    <p:sldId id="275" r:id="rId14"/>
    <p:sldId id="276" r:id="rId15"/>
    <p:sldId id="277" r:id="rId16"/>
    <p:sldId id="282" r:id="rId17"/>
    <p:sldId id="280" r:id="rId18"/>
    <p:sldId id="281" r:id="rId1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 autoAdjust="0"/>
    <p:restoredTop sz="94660"/>
  </p:normalViewPr>
  <p:slideViewPr>
    <p:cSldViewPr>
      <p:cViewPr varScale="1">
        <p:scale>
          <a:sx n="103" d="100"/>
          <a:sy n="103" d="100"/>
        </p:scale>
        <p:origin x="81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126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7A450C-333D-ED5A-7864-2829762D79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61693E-4671-01E5-64BD-84DAEB0379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1A7C2-CC29-45F1-8702-05312BC5315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8FF47-6E52-F53F-4BD9-F26ABE7B11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4AC7C-0CEE-0A12-D6E0-B2F5B724C2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8A4EC-9054-4B93-B779-7FA9133E0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127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8CF4-7B5F-414A-963C-32ACB40C287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362D2-A2EE-403D-B30F-33FD030B6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634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362D2-A2EE-403D-B30F-33FD030B670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387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215265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215265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215265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215265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215265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68956" y="546496"/>
            <a:ext cx="4806086" cy="3536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76652" y="321945"/>
            <a:ext cx="478853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70482"/>
            <a:ext cx="8071484" cy="2510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2041" y="4827387"/>
            <a:ext cx="1312036" cy="2710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215265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202429" y="4827387"/>
            <a:ext cx="588645" cy="2710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26957" y="4830038"/>
            <a:ext cx="219075" cy="178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7958" y="546496"/>
            <a:ext cx="4628083" cy="3536156"/>
          </a:xfrm>
          <a:prstGeom prst="rect">
            <a:avLst/>
          </a:prstGeom>
        </p:spPr>
      </p:pic>
      <p:pic>
        <p:nvPicPr>
          <p:cNvPr id="4" name="object 4" descr="C:\Users\Admin\Desktop\ECL 201\MBITS LOGO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685" y="216906"/>
            <a:ext cx="823870" cy="8232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28801" y="254253"/>
            <a:ext cx="6451600" cy="159194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524635" marR="5080" indent="-1512570">
              <a:lnSpc>
                <a:spcPts val="2110"/>
              </a:lnSpc>
              <a:spcBef>
                <a:spcPts val="210"/>
              </a:spcBef>
            </a:pPr>
            <a:r>
              <a:rPr sz="1800" dirty="0">
                <a:latin typeface="Times New Roman"/>
                <a:cs typeface="Times New Roman"/>
              </a:rPr>
              <a:t>MAR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BASELIOS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INSTITUTE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TECHNOLOGY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SCIENCE </a:t>
            </a:r>
            <a:r>
              <a:rPr sz="1800" dirty="0">
                <a:latin typeface="Times New Roman"/>
                <a:cs typeface="Times New Roman"/>
              </a:rPr>
              <a:t>NELLIMATTOM,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KOTHAMANGALAM</a:t>
            </a:r>
            <a:endParaRPr sz="1800" dirty="0">
              <a:latin typeface="Times New Roman"/>
              <a:cs typeface="Times New Roman"/>
            </a:endParaRPr>
          </a:p>
          <a:p>
            <a:pPr marL="2675255" marR="2143125" algn="ctr">
              <a:lnSpc>
                <a:spcPct val="100000"/>
              </a:lnSpc>
              <a:spcBef>
                <a:spcPts val="1520"/>
              </a:spcBef>
            </a:pPr>
            <a:r>
              <a:rPr sz="1800" b="1" spc="-10" dirty="0">
                <a:latin typeface="Times New Roman"/>
                <a:cs typeface="Times New Roman"/>
              </a:rPr>
              <a:t>DEPARTMENT </a:t>
            </a:r>
            <a:r>
              <a:rPr sz="1800" b="1" spc="-25" dirty="0">
                <a:latin typeface="Times New Roman"/>
                <a:cs typeface="Times New Roman"/>
              </a:rPr>
              <a:t>OF</a:t>
            </a:r>
            <a:endParaRPr sz="1800" dirty="0">
              <a:latin typeface="Times New Roman"/>
              <a:cs typeface="Times New Roman"/>
            </a:endParaRPr>
          </a:p>
          <a:p>
            <a:pPr marL="525145" algn="ctr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COMPUTER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SCIENCE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ENGINEERING</a:t>
            </a:r>
            <a:endParaRPr sz="180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522718" y="241908"/>
            <a:ext cx="1530350" cy="725805"/>
            <a:chOff x="7522718" y="241908"/>
            <a:chExt cx="1530350" cy="72580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57877" y="241908"/>
              <a:ext cx="694712" cy="7257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2718" y="281368"/>
              <a:ext cx="842124" cy="66554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87555" y="2048967"/>
            <a:ext cx="9909045" cy="1261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30805" algn="ctr">
              <a:lnSpc>
                <a:spcPts val="2875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Mini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Project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On</a:t>
            </a:r>
            <a:endParaRPr sz="2400" dirty="0">
              <a:latin typeface="Times New Roman"/>
              <a:cs typeface="Times New Roman"/>
            </a:endParaRPr>
          </a:p>
          <a:p>
            <a:pPr marR="2629535" algn="ctr">
              <a:lnSpc>
                <a:spcPts val="3354"/>
              </a:lnSpc>
            </a:pPr>
            <a:r>
              <a:rPr lang="en-IN" sz="2800" b="1" spc="-10" dirty="0" err="1">
                <a:latin typeface="Times New Roman"/>
                <a:cs typeface="Times New Roman"/>
              </a:rPr>
              <a:t>FarmEco</a:t>
            </a:r>
            <a:r>
              <a:rPr lang="en-IN" sz="2800" b="1" spc="-10" dirty="0">
                <a:latin typeface="Times New Roman"/>
                <a:cs typeface="Times New Roman"/>
              </a:rPr>
              <a:t> Assist AI</a:t>
            </a:r>
            <a:endParaRPr sz="2800" dirty="0">
              <a:latin typeface="Times New Roman"/>
              <a:cs typeface="Times New Roman"/>
            </a:endParaRPr>
          </a:p>
          <a:p>
            <a:pPr marL="2269490" algn="ctr">
              <a:lnSpc>
                <a:spcPct val="100000"/>
              </a:lnSpc>
              <a:spcBef>
                <a:spcPts val="2030"/>
              </a:spcBef>
            </a:pPr>
            <a:endParaRPr lang="en-IN" sz="1200" spc="-25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5265">
              <a:lnSpc>
                <a:spcPts val="1410"/>
              </a:lnSpc>
            </a:pPr>
            <a:r>
              <a:rPr lang="en-IN" dirty="0"/>
              <a:t>January 12, 2026</a:t>
            </a:r>
            <a:endParaRPr spc="-20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35BB10-2E82-B1C3-2307-9CFD2D4724C5}"/>
              </a:ext>
            </a:extLst>
          </p:cNvPr>
          <p:cNvSpPr txBox="1"/>
          <p:nvPr/>
        </p:nvSpPr>
        <p:spPr>
          <a:xfrm>
            <a:off x="5772048" y="2966435"/>
            <a:ext cx="46863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dirty="0">
                <a:latin typeface="Times New Roman"/>
                <a:cs typeface="Times New Roman"/>
              </a:rPr>
              <a:t>Presented</a:t>
            </a:r>
            <a:r>
              <a:rPr lang="en-IN" sz="1400" spc="-40" dirty="0">
                <a:latin typeface="Times New Roman"/>
                <a:cs typeface="Times New Roman"/>
              </a:rPr>
              <a:t> </a:t>
            </a:r>
            <a:r>
              <a:rPr lang="en-IN" sz="1400" spc="-25" dirty="0">
                <a:latin typeface="Times New Roman"/>
                <a:cs typeface="Times New Roman"/>
              </a:rPr>
              <a:t>by: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VISMAYA JOSEPH (MBI23CS136)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VINAYATHRI GOPAN (MBI23CS134)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TISA TIJO (MBI23CS133)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NATHEN LEJI (MBI23CS108)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S6CSEC (GROUP C8)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7154422-C92B-3819-136E-07E076115B44}"/>
              </a:ext>
            </a:extLst>
          </p:cNvPr>
          <p:cNvSpPr txBox="1">
            <a:spLocks/>
          </p:cNvSpPr>
          <p:nvPr/>
        </p:nvSpPr>
        <p:spPr>
          <a:xfrm>
            <a:off x="457200" y="3145825"/>
            <a:ext cx="1676400" cy="1314450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just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Sameena K M</a:t>
            </a:r>
          </a:p>
          <a:p>
            <a:pPr algn="just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just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Department</a:t>
            </a: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9958" y="480068"/>
            <a:ext cx="4301616" cy="4826321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40"/>
              </a:spcBef>
              <a:buFont typeface="Arial" panose="020B0604020202020204" pitchFamily="34" charset="0"/>
              <a:buChar char="•"/>
              <a:tabLst>
                <a:tab pos="361315" algn="l"/>
              </a:tabLst>
            </a:pPr>
            <a:r>
              <a:rPr sz="1900" spc="-10" dirty="0">
                <a:latin typeface="Times New Roman"/>
                <a:cs typeface="Times New Roman"/>
              </a:rPr>
              <a:t>Introduction</a:t>
            </a:r>
            <a:endParaRPr sz="1900" dirty="0">
              <a:latin typeface="Times New Roman"/>
              <a:cs typeface="Times New Roman"/>
            </a:endParaRPr>
          </a:p>
          <a:p>
            <a:pPr marL="361315" indent="-348615">
              <a:lnSpc>
                <a:spcPct val="100000"/>
              </a:lnSpc>
              <a:spcBef>
                <a:spcPts val="1540"/>
              </a:spcBef>
              <a:buChar char="•"/>
              <a:tabLst>
                <a:tab pos="361315" algn="l"/>
              </a:tabLst>
            </a:pPr>
            <a:r>
              <a:rPr lang="en-US" sz="1900" dirty="0">
                <a:latin typeface="Times New Roman"/>
                <a:cs typeface="Times New Roman"/>
              </a:rPr>
              <a:t>System Architecture</a:t>
            </a:r>
            <a:endParaRPr sz="1900" dirty="0">
              <a:latin typeface="Times New Roman"/>
              <a:cs typeface="Times New Roman"/>
            </a:endParaRPr>
          </a:p>
          <a:p>
            <a:pPr marL="361315" indent="-34861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361315" algn="l"/>
              </a:tabLst>
            </a:pPr>
            <a:r>
              <a:rPr lang="en-US" sz="1900" dirty="0">
                <a:latin typeface="Times New Roman"/>
                <a:cs typeface="Times New Roman"/>
              </a:rPr>
              <a:t>Technical Specifications</a:t>
            </a:r>
            <a:endParaRPr sz="1900" dirty="0">
              <a:latin typeface="Times New Roman"/>
              <a:cs typeface="Times New Roman"/>
            </a:endParaRPr>
          </a:p>
          <a:p>
            <a:pPr marL="361315" indent="-348615">
              <a:lnSpc>
                <a:spcPct val="100000"/>
              </a:lnSpc>
              <a:spcBef>
                <a:spcPts val="1550"/>
              </a:spcBef>
              <a:buChar char="•"/>
              <a:tabLst>
                <a:tab pos="361315" algn="l"/>
              </a:tabLst>
            </a:pPr>
            <a:r>
              <a:rPr lang="en-US" sz="1900" dirty="0">
                <a:latin typeface="Times New Roman"/>
                <a:cs typeface="Times New Roman"/>
              </a:rPr>
              <a:t>Data Flow Diagram</a:t>
            </a:r>
            <a:endParaRPr sz="1900" dirty="0">
              <a:latin typeface="Times New Roman"/>
              <a:cs typeface="Times New Roman"/>
            </a:endParaRPr>
          </a:p>
          <a:p>
            <a:pPr marL="361315" indent="-348615">
              <a:lnSpc>
                <a:spcPct val="100000"/>
              </a:lnSpc>
              <a:spcBef>
                <a:spcPts val="1535"/>
              </a:spcBef>
              <a:buChar char="•"/>
              <a:tabLst>
                <a:tab pos="361315" algn="l"/>
              </a:tabLst>
            </a:pPr>
            <a:r>
              <a:rPr lang="en-US" sz="1900" dirty="0">
                <a:latin typeface="Times New Roman"/>
                <a:cs typeface="Times New Roman"/>
              </a:rPr>
              <a:t>System Workflow</a:t>
            </a:r>
            <a:endParaRPr sz="19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40"/>
              </a:spcBef>
              <a:buFont typeface="Arial" panose="020B0604020202020204" pitchFamily="34" charset="0"/>
              <a:buChar char="•"/>
              <a:tabLst>
                <a:tab pos="361315" algn="l"/>
              </a:tabLst>
            </a:pPr>
            <a:r>
              <a:rPr lang="en-US" sz="1900" dirty="0">
                <a:latin typeface="Times New Roman"/>
                <a:cs typeface="Times New Roman"/>
              </a:rPr>
              <a:t>Implementation - Code structure </a:t>
            </a:r>
            <a:endParaRPr sz="1900" dirty="0">
              <a:latin typeface="Times New Roman"/>
              <a:cs typeface="Times New Roman"/>
            </a:endParaRPr>
          </a:p>
          <a:p>
            <a:pPr marL="361315" indent="-348615">
              <a:lnSpc>
                <a:spcPct val="100000"/>
              </a:lnSpc>
              <a:spcBef>
                <a:spcPts val="1545"/>
              </a:spcBef>
              <a:buChar char="•"/>
              <a:tabLst>
                <a:tab pos="361315" algn="l"/>
              </a:tabLst>
            </a:pPr>
            <a:r>
              <a:rPr lang="en-US" sz="1900" spc="-10" dirty="0">
                <a:latin typeface="Times New Roman"/>
                <a:cs typeface="Times New Roman"/>
              </a:rPr>
              <a:t>Implementation - UI Screenshots</a:t>
            </a:r>
          </a:p>
          <a:p>
            <a:pPr marL="361315" indent="-348615">
              <a:lnSpc>
                <a:spcPct val="100000"/>
              </a:lnSpc>
              <a:spcBef>
                <a:spcPts val="1545"/>
              </a:spcBef>
              <a:buChar char="•"/>
              <a:tabLst>
                <a:tab pos="361315" algn="l"/>
              </a:tabLst>
            </a:pPr>
            <a:r>
              <a:rPr lang="en-US" sz="1900" spc="-10" dirty="0">
                <a:latin typeface="Times New Roman"/>
                <a:cs typeface="Times New Roman"/>
              </a:rPr>
              <a:t>Project Progress</a:t>
            </a:r>
          </a:p>
          <a:p>
            <a:pPr marL="361315" indent="-348615">
              <a:lnSpc>
                <a:spcPct val="100000"/>
              </a:lnSpc>
              <a:spcBef>
                <a:spcPts val="1545"/>
              </a:spcBef>
              <a:buChar char="•"/>
              <a:tabLst>
                <a:tab pos="361315" algn="l"/>
              </a:tabLst>
            </a:pPr>
            <a:r>
              <a:rPr lang="en-US" sz="1900" spc="-10" dirty="0">
                <a:latin typeface="Times New Roman"/>
                <a:cs typeface="Times New Roman"/>
              </a:rPr>
              <a:t>Conclusion</a:t>
            </a:r>
          </a:p>
          <a:p>
            <a:pPr marL="361315" indent="-348615">
              <a:lnSpc>
                <a:spcPct val="100000"/>
              </a:lnSpc>
              <a:spcBef>
                <a:spcPts val="1545"/>
              </a:spcBef>
              <a:buChar char="•"/>
              <a:tabLst>
                <a:tab pos="361315" algn="l"/>
              </a:tabLst>
            </a:pP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5265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48000" y="15690"/>
            <a:ext cx="25786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0232" y="167385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205" y="1160770"/>
            <a:ext cx="7126605" cy="357662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modern solution developed to transform traditional farming operations through Artificial Intelligence and data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Effectively manages farm profitability by optimizing when to sell crops and how to utilize farm waste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faster access to climate-smart advisory services, enhancing convenience without the need for expensive consultants.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overall farm sustainability by simplifying complex carbon market concepts and ensuring better resource utilization.</a:t>
            </a:r>
          </a:p>
          <a:p>
            <a:pPr marL="299085" indent="-286385">
              <a:lnSpc>
                <a:spcPct val="100000"/>
              </a:lnSpc>
              <a:spcBef>
                <a:spcPts val="970"/>
              </a:spcBef>
              <a:buFont typeface="Arial"/>
              <a:buChar char="•"/>
              <a:tabLst>
                <a:tab pos="29908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82951" y="379552"/>
            <a:ext cx="348170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5179" y="147573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D122240F-DDA4-7000-A52B-A09817FF954C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7402448" y="87579"/>
            <a:ext cx="6762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45F363A0-DA7B-A0C2-28E1-75FE518A83B6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E5D7F61-F64D-2BE6-DA2E-C256D26A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501005"/>
            <a:ext cx="4788534" cy="57404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84DDCA-94E4-29A1-148F-0C833F58ABE1}"/>
              </a:ext>
            </a:extLst>
          </p:cNvPr>
          <p:cNvSpPr txBox="1"/>
          <p:nvPr/>
        </p:nvSpPr>
        <p:spPr>
          <a:xfrm>
            <a:off x="336867" y="1503174"/>
            <a:ext cx="8686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Problem: Small farmers face volatile markets, harmful waste disposal habits (stubble burning), and a lack of awareness regarding carbon credits.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Solution: A unified Python-based web application to provide economic intelligence and environmental sustainability advice. This unifies price </a:t>
            </a:r>
            <a:r>
              <a:rPr lang="en-US" dirty="0" err="1"/>
              <a:t>prediction,waste</a:t>
            </a:r>
            <a:r>
              <a:rPr lang="en-US" dirty="0"/>
              <a:t> reuse and carbon income estimation into a single platform.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Objective: To enhance farmer income and promote climate-positive transitions.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79790" y="430571"/>
            <a:ext cx="618441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SYSTEM ARCHITECTURE</a:t>
            </a:r>
            <a:br>
              <a:rPr lang="en-US" spc="-10" dirty="0"/>
            </a:b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91741" y="865598"/>
            <a:ext cx="5323259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3 MODULES)</a:t>
            </a:r>
          </a:p>
          <a:p>
            <a:pPr algn="r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6" name="object 6"/>
          <p:cNvSpPr txBox="1"/>
          <p:nvPr/>
        </p:nvSpPr>
        <p:spPr>
          <a:xfrm>
            <a:off x="7803895" y="130809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25DE9EE3-74BA-A54E-C2C3-153B75E9E8B7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28DDC8-406F-ABFB-C476-29C216F32B23}"/>
              </a:ext>
            </a:extLst>
          </p:cNvPr>
          <p:cNvSpPr txBox="1"/>
          <p:nvPr/>
        </p:nvSpPr>
        <p:spPr>
          <a:xfrm>
            <a:off x="555965" y="1431842"/>
            <a:ext cx="84702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system consolidates three intelligent modules: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FarmPulse</a:t>
            </a:r>
            <a:r>
              <a:rPr lang="en-US" dirty="0"/>
              <a:t> (Price Volatility Alert): </a:t>
            </a:r>
          </a:p>
          <a:p>
            <a:r>
              <a:rPr lang="en-US" dirty="0"/>
              <a:t>       Forecasts market movement to generate "sell-risk" alerts.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AgroWaste</a:t>
            </a:r>
            <a:r>
              <a:rPr lang="en-US" dirty="0"/>
              <a:t> (Waste Reuse Recommendation):</a:t>
            </a:r>
          </a:p>
          <a:p>
            <a:r>
              <a:rPr lang="en-US" dirty="0"/>
              <a:t>        Suggests optimal reuse pathways (compost/fuel) for crop residues.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CarbonCredit</a:t>
            </a:r>
            <a:r>
              <a:rPr lang="en-US" dirty="0"/>
              <a:t> (Income Advisory):</a:t>
            </a:r>
          </a:p>
          <a:p>
            <a:r>
              <a:rPr lang="en-US" dirty="0"/>
              <a:t>       Assesses carbon-reduction potential and estimates annual earnings.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84363" y="534557"/>
            <a:ext cx="657412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TECHNICAL SPECIFICATIONS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71498" y="1526883"/>
            <a:ext cx="8115301" cy="28860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5315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(Python-based UI framework).</a:t>
            </a:r>
          </a:p>
          <a:p>
            <a:pPr marL="329565">
              <a:lnSpc>
                <a:spcPct val="100000"/>
              </a:lnSpc>
              <a:spcBef>
                <a:spcPts val="105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15315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Backend: Python modules for logic and ML prediction. </a:t>
            </a:r>
          </a:p>
          <a:p>
            <a:pPr marL="329565">
              <a:lnSpc>
                <a:spcPct val="100000"/>
              </a:lnSpc>
              <a:spcBef>
                <a:spcPts val="105"/>
              </a:spcBef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5315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Database: SQLite (Lightweight file-based database). </a:t>
            </a:r>
          </a:p>
          <a:p>
            <a:pPr marL="329565">
              <a:lnSpc>
                <a:spcPct val="100000"/>
              </a:lnSpc>
              <a:spcBef>
                <a:spcPts val="105"/>
              </a:spcBef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5315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 Models: Linear Regression (Price/Earnings), Decision Tree Classifier (Carbon Eligibility), and Rule-based Recommender. </a:t>
            </a:r>
          </a:p>
          <a:p>
            <a:pPr marL="329565">
              <a:lnSpc>
                <a:spcPct val="100000"/>
              </a:lnSpc>
              <a:spcBef>
                <a:spcPts val="105"/>
              </a:spcBef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5315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Libraries: pandas,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matplotlib, sqlite3.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9095" y="132715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753874CC-8B31-AA67-1C24-727B4CE9BEB8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803672"/>
            <a:ext cx="4806086" cy="35361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-381000" y="198914"/>
            <a:ext cx="8305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0040" algn="ctr">
              <a:lnSpc>
                <a:spcPct val="100000"/>
              </a:lnSpc>
              <a:spcBef>
                <a:spcPts val="100"/>
              </a:spcBef>
            </a:pPr>
            <a:r>
              <a:rPr lang="en-IN" sz="3600" spc="-10" dirty="0">
                <a:latin typeface="Times New Roman"/>
                <a:cs typeface="Times New Roman"/>
              </a:rPr>
              <a:t>DATA FLOW DIAGRAM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6" name="object 6"/>
          <p:cNvSpPr txBox="1"/>
          <p:nvPr/>
        </p:nvSpPr>
        <p:spPr>
          <a:xfrm>
            <a:off x="7796530" y="110490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65DD712A-41EF-55BC-B242-7780BB36B803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992370-CA0F-A41D-BF3F-31618B5F5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4159"/>
            <a:ext cx="9144000" cy="39732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SYSTEM WORKFLOW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282041" y="608965"/>
            <a:ext cx="8177925" cy="4072269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indent="-286385">
              <a:lnSpc>
                <a:spcPct val="100000"/>
              </a:lnSpc>
              <a:spcBef>
                <a:spcPts val="919"/>
              </a:spcBef>
              <a:buSzPct val="130555"/>
              <a:buFont typeface="Arial"/>
              <a:buChar char="•"/>
              <a:tabLst>
                <a:tab pos="29908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 User Interaction: Farmer enters credentials or module-specific data (Crop, Waste Type, Soil data). </a:t>
            </a:r>
          </a:p>
          <a:p>
            <a:pPr marL="12700">
              <a:lnSpc>
                <a:spcPct val="100000"/>
              </a:lnSpc>
              <a:spcBef>
                <a:spcPts val="919"/>
              </a:spcBef>
              <a:buSzPct val="130555"/>
              <a:tabLst>
                <a:tab pos="299085" algn="l"/>
              </a:tabLst>
            </a:pPr>
            <a:endParaRPr lang="en-US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19"/>
              </a:spcBef>
              <a:buSzPct val="130555"/>
              <a:buFont typeface="Arial"/>
              <a:buChar char="•"/>
              <a:tabLst>
                <a:tab pos="29908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Processing: Logic flows through the Login/Auth module, then to specific ML modules. </a:t>
            </a:r>
          </a:p>
          <a:p>
            <a:pPr marL="12700">
              <a:lnSpc>
                <a:spcPct val="100000"/>
              </a:lnSpc>
              <a:spcBef>
                <a:spcPts val="919"/>
              </a:spcBef>
              <a:buSzPct val="130555"/>
              <a:tabLst>
                <a:tab pos="299085" algn="l"/>
              </a:tabLst>
            </a:pPr>
            <a:endParaRPr lang="en-US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19"/>
              </a:spcBef>
              <a:buSzPct val="130555"/>
              <a:buFont typeface="Arial"/>
              <a:buChar char="•"/>
              <a:tabLst>
                <a:tab pos="29908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Data Persistence: Results and history are saved to the SQLite User Database. </a:t>
            </a:r>
          </a:p>
          <a:p>
            <a:pPr marL="12700">
              <a:lnSpc>
                <a:spcPct val="100000"/>
              </a:lnSpc>
              <a:spcBef>
                <a:spcPts val="919"/>
              </a:spcBef>
              <a:buSzPct val="130555"/>
              <a:tabLst>
                <a:tab pos="299085" algn="l"/>
              </a:tabLst>
            </a:pPr>
            <a:endParaRPr lang="en-US"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19"/>
              </a:spcBef>
              <a:buSzPct val="130555"/>
              <a:buFont typeface="Arial"/>
              <a:buChar char="•"/>
              <a:tabLst>
                <a:tab pos="29908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 Model Integration: Modules load specific datasets and trained models (Regression/Decision Trees) to generate output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84109" y="125095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6A296F25-229A-5959-6441-D6AF08860B8D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9588" y="364875"/>
            <a:ext cx="757694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IMPLEMENTATION – Code Structure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38059" y="1065685"/>
            <a:ext cx="5410200" cy="1359346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algn="r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26435" algn="just">
              <a:lnSpc>
                <a:spcPct val="100000"/>
              </a:lnSpc>
              <a:spcBef>
                <a:spcPts val="960"/>
              </a:spcBef>
            </a:pP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6" name="object 6"/>
          <p:cNvSpPr txBox="1"/>
          <p:nvPr/>
        </p:nvSpPr>
        <p:spPr>
          <a:xfrm>
            <a:off x="7595743" y="162305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8DD35EF0-3EAE-2177-1EAC-D14F8EDBEC1B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E581A0-E22D-A9C5-904B-6D3167231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9480"/>
          <a:stretch>
            <a:fillRect/>
          </a:stretch>
        </p:blipFill>
        <p:spPr>
          <a:xfrm>
            <a:off x="114300" y="1031115"/>
            <a:ext cx="8915400" cy="37475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1000" y="811995"/>
            <a:ext cx="888225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SOFTWARE ARCHITECTURE &amp; DESIGN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819150"/>
            <a:ext cx="7706461" cy="3009157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R="1781810" algn="l">
              <a:lnSpc>
                <a:spcPct val="100000"/>
              </a:lnSpc>
              <a:spcBef>
                <a:spcPts val="605"/>
              </a:spcBef>
            </a:pPr>
            <a:endParaRPr dirty="0">
              <a:latin typeface="Times New Roman"/>
              <a:cs typeface="Times New Roman"/>
            </a:endParaRPr>
          </a:p>
          <a:p>
            <a:pPr algn="l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9085" indent="-286385" algn="l">
              <a:lnSpc>
                <a:spcPct val="100000"/>
              </a:lnSpc>
              <a:spcBef>
                <a:spcPts val="1475"/>
              </a:spcBef>
              <a:buSzPct val="130555"/>
              <a:buFont typeface="Arial"/>
              <a:buChar char="•"/>
              <a:tabLst>
                <a:tab pos="29908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 Application Logic: Built using </a:t>
            </a:r>
            <a:r>
              <a:rPr lang="en-US" sz="1800" dirty="0" err="1">
                <a:latin typeface="Times New Roman"/>
                <a:cs typeface="Times New Roman"/>
              </a:rPr>
              <a:t>streamlit</a:t>
            </a:r>
            <a:r>
              <a:rPr lang="en-US" sz="1800" dirty="0">
                <a:latin typeface="Times New Roman"/>
                <a:cs typeface="Times New Roman"/>
              </a:rPr>
              <a:t> for page configuration and sidebar navigation. </a:t>
            </a:r>
          </a:p>
          <a:p>
            <a:pPr marL="299085" indent="-286385" algn="l">
              <a:lnSpc>
                <a:spcPct val="100000"/>
              </a:lnSpc>
              <a:spcBef>
                <a:spcPts val="1475"/>
              </a:spcBef>
              <a:buSzPct val="130555"/>
              <a:buFont typeface="Arial"/>
              <a:buChar char="•"/>
              <a:tabLst>
                <a:tab pos="29908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 Modular Design: Uses a radio menu to toggle between "Home," "</a:t>
            </a:r>
            <a:r>
              <a:rPr lang="en-US" sz="1800" dirty="0" err="1">
                <a:latin typeface="Times New Roman"/>
                <a:cs typeface="Times New Roman"/>
              </a:rPr>
              <a:t>FarmPulse</a:t>
            </a:r>
            <a:r>
              <a:rPr lang="en-US" sz="1800" dirty="0">
                <a:latin typeface="Times New Roman"/>
                <a:cs typeface="Times New Roman"/>
              </a:rPr>
              <a:t>," "</a:t>
            </a:r>
            <a:r>
              <a:rPr lang="en-US" sz="1800" dirty="0" err="1">
                <a:latin typeface="Times New Roman"/>
                <a:cs typeface="Times New Roman"/>
              </a:rPr>
              <a:t>AgroWaste</a:t>
            </a:r>
            <a:r>
              <a:rPr lang="en-US" sz="1800" dirty="0">
                <a:latin typeface="Times New Roman"/>
                <a:cs typeface="Times New Roman"/>
              </a:rPr>
              <a:t>," and "</a:t>
            </a:r>
            <a:r>
              <a:rPr lang="en-US" sz="1800" dirty="0" err="1">
                <a:latin typeface="Times New Roman"/>
                <a:cs typeface="Times New Roman"/>
              </a:rPr>
              <a:t>CarbonCredit</a:t>
            </a:r>
            <a:r>
              <a:rPr lang="en-US" sz="1800" dirty="0">
                <a:latin typeface="Times New Roman"/>
                <a:cs typeface="Times New Roman"/>
              </a:rPr>
              <a:t>". </a:t>
            </a:r>
            <a:endParaRPr lang="en-US" dirty="0">
              <a:latin typeface="Times New Roman"/>
              <a:cs typeface="Times New Roman"/>
            </a:endParaRPr>
          </a:p>
          <a:p>
            <a:pPr marL="299085" indent="-286385" algn="l">
              <a:lnSpc>
                <a:spcPct val="100000"/>
              </a:lnSpc>
              <a:spcBef>
                <a:spcPts val="1475"/>
              </a:spcBef>
              <a:buSzPct val="130555"/>
              <a:buFont typeface="Arial"/>
              <a:buChar char="•"/>
              <a:tabLst>
                <a:tab pos="29908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Environment: Developed in a Python virtual environment (</a:t>
            </a:r>
            <a:r>
              <a:rPr lang="en-US" sz="1800" dirty="0" err="1">
                <a:latin typeface="Times New Roman"/>
                <a:cs typeface="Times New Roman"/>
              </a:rPr>
              <a:t>venv</a:t>
            </a:r>
            <a:r>
              <a:rPr lang="en-US" sz="1800" dirty="0">
                <a:latin typeface="Times New Roman"/>
                <a:cs typeface="Times New Roman"/>
              </a:rPr>
              <a:t>) and run locally via </a:t>
            </a:r>
            <a:r>
              <a:rPr lang="en-US" sz="1800" dirty="0" err="1">
                <a:latin typeface="Times New Roman"/>
                <a:cs typeface="Times New Roman"/>
              </a:rPr>
              <a:t>streamlit</a:t>
            </a:r>
            <a:r>
              <a:rPr lang="en-US" sz="1800" dirty="0">
                <a:latin typeface="Times New Roman"/>
                <a:cs typeface="Times New Roman"/>
              </a:rPr>
              <a:t> run app.py.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11516" y="234441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70528DCB-1EB2-7040-53FC-AC66812C3062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83576" y="434282"/>
            <a:ext cx="6776848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dirty="0"/>
              <a:t>IMPLEMENTATION-UI Screenshots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825508"/>
            <a:ext cx="5181600" cy="671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11" name="object 11"/>
          <p:cNvSpPr txBox="1"/>
          <p:nvPr/>
        </p:nvSpPr>
        <p:spPr>
          <a:xfrm>
            <a:off x="7685023" y="177165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C9117816-FDBF-5E5C-0367-3D11F728075C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9D1532-E381-612F-4F8D-BF7E79C27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98" b="20686"/>
          <a:stretch>
            <a:fillRect/>
          </a:stretch>
        </p:blipFill>
        <p:spPr>
          <a:xfrm>
            <a:off x="11150" y="1085315"/>
            <a:ext cx="9132849" cy="36172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8763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IMPLEMENTATION-UI Screenshots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650239" y="894339"/>
            <a:ext cx="7503161" cy="1011174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54965" indent="-342265">
              <a:lnSpc>
                <a:spcPct val="100000"/>
              </a:lnSpc>
              <a:spcBef>
                <a:spcPts val="1100"/>
              </a:spcBef>
              <a:buFont typeface="Arial"/>
              <a:buChar char="•"/>
              <a:tabLst>
                <a:tab pos="354965" algn="l"/>
              </a:tabLst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89291" y="169926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DD51783B-09BF-EB96-2370-E96775A75D2C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C893B4-7110-F6CA-6103-0D9608CE5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1" t="10057" r="101" b="16192"/>
          <a:stretch>
            <a:fillRect/>
          </a:stretch>
        </p:blipFill>
        <p:spPr>
          <a:xfrm>
            <a:off x="0" y="894338"/>
            <a:ext cx="9144000" cy="38872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4400" y="285750"/>
            <a:ext cx="8839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97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IMPLEMENTATION-UI Screenshots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7" name="object 7"/>
          <p:cNvSpPr txBox="1"/>
          <p:nvPr/>
        </p:nvSpPr>
        <p:spPr>
          <a:xfrm>
            <a:off x="7655179" y="183007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57BD4791-B281-0631-F09D-D6EE4DB0BBE5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70A404-BC51-A74A-F182-FD7047118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4" b="10001"/>
          <a:stretch>
            <a:fillRect/>
          </a:stretch>
        </p:blipFill>
        <p:spPr>
          <a:xfrm>
            <a:off x="0" y="1016890"/>
            <a:ext cx="9144000" cy="36394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6377" y="422175"/>
            <a:ext cx="750074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97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Front-End Features &amp; User Experience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7" name="object 7"/>
          <p:cNvSpPr txBox="1"/>
          <p:nvPr/>
        </p:nvSpPr>
        <p:spPr>
          <a:xfrm>
            <a:off x="7588377" y="183007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75768405-6D45-86DA-CDED-75BB3DC2D569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DD7E63-9004-0DC5-AD46-F77E1B0393DC}"/>
              </a:ext>
            </a:extLst>
          </p:cNvPr>
          <p:cNvSpPr txBox="1"/>
          <p:nvPr/>
        </p:nvSpPr>
        <p:spPr>
          <a:xfrm>
            <a:off x="585647" y="1244550"/>
            <a:ext cx="7262954" cy="324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​Home Page: Provides a clear overview of system capabilities (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FarmPulse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AgroWaste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CarbonCredit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and module navigation via the sidebar.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​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FarmPulse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Interface: Allows users to select a crop (e.g., Tomato) and enter current market prices (₹ per kg) for analysis.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​Dynamic Alerts: The system displays a green "GOOD NEWS" banner for price rises (Hold for 1 week!) or a red "ALERT" banner for price falls (Sell Now!).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​Integrated Design: All modules operate over a common farmer profile within a unified Python and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Streamlit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web application.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93302" y="378828"/>
            <a:ext cx="594359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PROJECT PROGRESS</a:t>
            </a:r>
            <a:br>
              <a:rPr lang="en-US" spc="-10" dirty="0"/>
            </a:br>
            <a:r>
              <a:rPr lang="en-US" spc="-10" dirty="0"/>
              <a:t>  </a:t>
            </a:r>
            <a:r>
              <a:rPr lang="en-US" sz="3070" spc="-10" dirty="0"/>
              <a:t>(30% COMPLETION)</a:t>
            </a:r>
            <a:endParaRPr sz="3070"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7" name="object 7"/>
          <p:cNvSpPr txBox="1"/>
          <p:nvPr/>
        </p:nvSpPr>
        <p:spPr>
          <a:xfrm>
            <a:off x="8484488" y="4854800"/>
            <a:ext cx="18097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z="1200" spc="-25" dirty="0">
                <a:solidFill>
                  <a:srgbClr val="878787"/>
                </a:solidFill>
                <a:latin typeface="Calibri"/>
                <a:cs typeface="Calibri"/>
              </a:rPr>
              <a:t>15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776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7989823" y="132715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FE223EF8-1B01-EE14-58FB-A56F18F73B51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19C358-D5D7-8747-D1D3-5332B41F626F}"/>
              </a:ext>
            </a:extLst>
          </p:cNvPr>
          <p:cNvSpPr txBox="1"/>
          <p:nvPr/>
        </p:nvSpPr>
        <p:spPr>
          <a:xfrm>
            <a:off x="308061" y="1813060"/>
            <a:ext cx="8699625" cy="2176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Completed Tasks:  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Requirement Specification (SRS) and Abstract finalized.   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Streamlit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UI skeleton and sidebar navigation implemented.   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Database schema designed for SQLite integration.   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Initial logic for the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FarmPulse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module developed.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E85A2-36FF-5764-FFE4-EF03FFB3D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55E7545-83C9-9F23-3F52-C460E75474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2041" y="321945"/>
            <a:ext cx="787135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970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/>
              <a:t>Future Roadmap</a:t>
            </a:r>
            <a:endParaRPr sz="2800"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D647411-95E7-74CC-0251-C75418AB1EC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/>
              <a:t>CSD334</a:t>
            </a:r>
            <a:endParaRPr spc="-25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DDA8C40-55A5-6846-65B7-8A1B30039F6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BD10D1D-7C2E-D4F3-DD26-040FEA04938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January 12, 2026</a:t>
            </a:r>
            <a:endParaRPr spc="-2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247300D-3FF8-EAB6-B116-667E3B636EA7}"/>
              </a:ext>
            </a:extLst>
          </p:cNvPr>
          <p:cNvSpPr txBox="1"/>
          <p:nvPr/>
        </p:nvSpPr>
        <p:spPr>
          <a:xfrm>
            <a:off x="7588377" y="183007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4C8DBFEF-5EB0-146B-B458-2D309C8F66FE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470BB-0BD4-44AB-1F67-6A9C771FEA11}"/>
              </a:ext>
            </a:extLst>
          </p:cNvPr>
          <p:cNvSpPr txBox="1"/>
          <p:nvPr/>
        </p:nvSpPr>
        <p:spPr>
          <a:xfrm>
            <a:off x="610649" y="666750"/>
            <a:ext cx="7653368" cy="399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Next Steps:   </a:t>
            </a: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Training ML models with historical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datasets.This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involves sourcing and cleaning extensive CSV datasets for various crops to ensure the Linear Regression model can accurately forecast seasonal price fluctuations.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Finalizing the Carbon Credit estimation logic.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​We are developing a mathematical formula to translate raw environmental data into an estimated annual income, providing farmers with a clear financial incentive for sustainable transitions.</a:t>
            </a: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Integrating all modules with the backend database.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We will implement full CRUD (Create, Read, Update, Delete) operations using SQLite to ensure that farmer profiles and previous "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FarmPulse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queries are saved across sessions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170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420" y="645544"/>
            <a:ext cx="9014359" cy="42060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295910" indent="-287020">
              <a:lnSpc>
                <a:spcPct val="1072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Social Impact: Offers a cost-efficient tool for marginal farmers to improve their livelihoods. </a:t>
            </a:r>
          </a:p>
          <a:p>
            <a:pPr marL="297815" marR="295910" indent="-285750">
              <a:lnSpc>
                <a:spcPct val="1072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 Innovation: Demonstrates potential for future research and patentable agricultural technology. </a:t>
            </a:r>
          </a:p>
          <a:p>
            <a:pPr marL="297815" marR="295910" indent="-285750">
              <a:lnSpc>
                <a:spcPct val="1072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​Established Foundation: We have successfully developed the core architecture of </a:t>
            </a:r>
            <a:r>
              <a:rPr lang="en-US" sz="1800" dirty="0" err="1">
                <a:latin typeface="Times New Roman"/>
                <a:cs typeface="Times New Roman"/>
              </a:rPr>
              <a:t>FarmEco</a:t>
            </a:r>
            <a:r>
              <a:rPr lang="en-US" sz="1800" dirty="0">
                <a:latin typeface="Times New Roman"/>
                <a:cs typeface="Times New Roman"/>
              </a:rPr>
              <a:t> Assist AI, integrating a functional </a:t>
            </a:r>
            <a:r>
              <a:rPr lang="en-US" sz="1800" dirty="0" err="1">
                <a:latin typeface="Times New Roman"/>
                <a:cs typeface="Times New Roman"/>
              </a:rPr>
              <a:t>Streamlit</a:t>
            </a:r>
            <a:r>
              <a:rPr lang="en-US" sz="1800" dirty="0">
                <a:latin typeface="Times New Roman"/>
                <a:cs typeface="Times New Roman"/>
              </a:rPr>
              <a:t> interface with a modular backend design.</a:t>
            </a:r>
          </a:p>
          <a:p>
            <a:pPr marL="297815" marR="295910" indent="-285750">
              <a:lnSpc>
                <a:spcPct val="1072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​Proof of Concept: The </a:t>
            </a:r>
            <a:r>
              <a:rPr lang="en-US" sz="1800" dirty="0" err="1">
                <a:latin typeface="Times New Roman"/>
                <a:cs typeface="Times New Roman"/>
              </a:rPr>
              <a:t>FarmPulse</a:t>
            </a:r>
            <a:r>
              <a:rPr lang="en-US" sz="1800" dirty="0">
                <a:latin typeface="Times New Roman"/>
                <a:cs typeface="Times New Roman"/>
              </a:rPr>
              <a:t> module demonstrates that real-time price volatility alerts can be effectively generated through Python-based logic, providing a clear "Hold" or "Sell" directive to the user.</a:t>
            </a:r>
          </a:p>
          <a:p>
            <a:pPr marL="297815" marR="295910" indent="-285750">
              <a:lnSpc>
                <a:spcPct val="1072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​Scalability &amp; Readiness: With the SQLite database schema and UI navigation finalized, the system is ready for the integration of more complex machine learning models in the next phase.</a:t>
            </a:r>
          </a:p>
          <a:p>
            <a:pPr marL="297815" marR="295910" indent="-285750">
              <a:lnSpc>
                <a:spcPct val="1072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​Vision for Completion: The progress made so far confirms the feasibility of creating a cost-efficient, unified platform that balances economic intelligence with climate-positive agricultural practices.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202429" y="4918937"/>
            <a:ext cx="59817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5" dirty="0"/>
              <a:t>CSD334</a:t>
            </a:r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17353" y="4940755"/>
            <a:ext cx="135904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January 12, 2026</a:t>
            </a:r>
            <a:endParaRPr spc="-20" dirty="0"/>
          </a:p>
        </p:txBody>
      </p:sp>
      <p:sp>
        <p:nvSpPr>
          <p:cNvPr id="8" name="object 8"/>
          <p:cNvSpPr txBox="1"/>
          <p:nvPr/>
        </p:nvSpPr>
        <p:spPr>
          <a:xfrm>
            <a:off x="8096229" y="4881302"/>
            <a:ext cx="444647" cy="136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US" sz="1200" spc="-25" dirty="0">
                <a:solidFill>
                  <a:srgbClr val="878787"/>
                </a:solidFill>
                <a:latin typeface="Calibri"/>
                <a:cs typeface="Calibri"/>
              </a:rPr>
              <a:t>17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76399" y="45027"/>
            <a:ext cx="48525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27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63331" y="199390"/>
            <a:ext cx="677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0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45F019D4-6771-22D1-7564-25149AAFC639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30829" y="1823085"/>
            <a:ext cx="33318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THANK</a:t>
            </a:r>
            <a:r>
              <a:rPr sz="4400" spc="-25" dirty="0"/>
              <a:t> YOU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8458200" y="4791862"/>
            <a:ext cx="1809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25" dirty="0">
                <a:solidFill>
                  <a:srgbClr val="878787"/>
                </a:solidFill>
                <a:latin typeface="Calibri"/>
                <a:cs typeface="Calibri"/>
              </a:rPr>
              <a:t>18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7813" y="221996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BEBEBE"/>
                </a:solidFill>
                <a:latin typeface="Times New Roman"/>
                <a:cs typeface="Times New Roman"/>
              </a:rPr>
              <a:t>CSE</a:t>
            </a:r>
            <a:r>
              <a:rPr sz="1200" spc="-25" dirty="0">
                <a:solidFill>
                  <a:srgbClr val="BEBEBE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Dept.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B9FFEAB-7A4B-6223-5A11-2C3FF369735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4202429" y="4827387"/>
            <a:ext cx="588645" cy="179536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25" dirty="0"/>
              <a:t>CSD334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678E79A-ABC8-FBD0-1128-ADAC0403B02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215265">
              <a:lnSpc>
                <a:spcPts val="1410"/>
              </a:lnSpc>
            </a:pPr>
            <a:r>
              <a:rPr lang="en-IN"/>
              <a:t>January 12, 2026</a:t>
            </a:r>
            <a:endParaRPr lang="en-IN" spc="-20"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6BD64B0B-BCE2-D468-DFB7-E91C71B1E364}"/>
              </a:ext>
            </a:extLst>
          </p:cNvPr>
          <p:cNvSpPr txBox="1"/>
          <p:nvPr/>
        </p:nvSpPr>
        <p:spPr>
          <a:xfrm>
            <a:off x="428345" y="167385"/>
            <a:ext cx="1312036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1200" spc="-10" dirty="0" err="1">
                <a:solidFill>
                  <a:srgbClr val="BEBEBE"/>
                </a:solidFill>
                <a:latin typeface="Times New Roman"/>
                <a:cs typeface="Times New Roman"/>
              </a:rPr>
              <a:t>FarmEco</a:t>
            </a:r>
            <a:r>
              <a:rPr lang="en-IN" sz="1200" spc="-10" dirty="0">
                <a:solidFill>
                  <a:srgbClr val="BEBEBE"/>
                </a:solidFill>
                <a:latin typeface="Times New Roman"/>
                <a:cs typeface="Times New Roman"/>
              </a:rPr>
              <a:t> Assist AI</a:t>
            </a:r>
          </a:p>
          <a:p>
            <a:pPr marL="12700" algn="ctr">
              <a:spcBef>
                <a:spcPts val="100"/>
              </a:spcBef>
            </a:pPr>
            <a:endParaRPr lang="en-IN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</TotalTime>
  <Words>1158</Words>
  <Application>Microsoft Office PowerPoint</Application>
  <PresentationFormat>On-screen Show (16:9)</PresentationFormat>
  <Paragraphs>200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PowerPoint Presentation</vt:lpstr>
      <vt:lpstr>CONTENTS</vt:lpstr>
      <vt:lpstr>INTRODUCTION</vt:lpstr>
      <vt:lpstr>INTRODUCTION</vt:lpstr>
      <vt:lpstr>SYSTEM ARCHITECTURE </vt:lpstr>
      <vt:lpstr>TECHNICAL SPECIFICATIONS</vt:lpstr>
      <vt:lpstr>PowerPoint Presentation</vt:lpstr>
      <vt:lpstr>SYSTEM WORKFLOW</vt:lpstr>
      <vt:lpstr>IMPLEMENTATION – Code Structure</vt:lpstr>
      <vt:lpstr>SOFTWARE ARCHITECTURE &amp; DESIGN</vt:lpstr>
      <vt:lpstr>IMPLEMENTATION-UI Screenshots</vt:lpstr>
      <vt:lpstr>IMPLEMENTATION-UI Screenshots</vt:lpstr>
      <vt:lpstr>IMPLEMENTATION-UI Screenshots</vt:lpstr>
      <vt:lpstr>Front-End Features &amp; User Experience</vt:lpstr>
      <vt:lpstr>PROJECT PROGRESS   (30% COMPLETION)</vt:lpstr>
      <vt:lpstr>Future Roadmap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vinayathrigopakumar@gmail.com</cp:lastModifiedBy>
  <cp:revision>6</cp:revision>
  <dcterms:created xsi:type="dcterms:W3CDTF">2026-01-11T07:04:10Z</dcterms:created>
  <dcterms:modified xsi:type="dcterms:W3CDTF">2026-01-18T17:05:25Z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2026-01-11T00:00:00Z</vt:filetime>
  </property>
  <property fmtid="{D5CDD505-2E9C-101B-9397-08002B2CF9AE}" pid="5" name="Producer">
    <vt:lpwstr>Microsoft® PowerPoint® 2021</vt:lpwstr>
  </property>
</Properties>
</file>